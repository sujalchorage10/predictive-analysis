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2FA166-0F9A-4684-912D-645521C37089}" v="181" dt="2024-12-05T04:51:14.6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5D306-85A6-A97C-BE6A-FDAB4B495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EC592-A84F-22F0-99D3-3FF667A72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7E771-F115-E7E8-536A-5BABDE68F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1F9E3-3547-4517-A9B6-463FFB9B431F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AF3CB-9A80-26B4-53A8-18A2DF7F5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E1A78-7273-2486-4C10-9BA330A00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BBBEF-204A-4D0D-B8A9-0AD1AF169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542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F7CBD-CBFD-A3CD-1C1A-907AC3352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08AF4-7138-58DB-148D-9B680EA14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E8882-3374-47A7-DA5C-06F0CDD61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1F9E3-3547-4517-A9B6-463FFB9B431F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95C6-AA85-F05C-5882-515789033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92119-FE29-8B35-965B-DBE7FF93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BBBEF-204A-4D0D-B8A9-0AD1AF169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31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2C5C3-5812-087D-EE4E-6019B600A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DF6D3-9DF9-1258-6084-F74273912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90DBE-DB5B-53EC-479D-39963CEDE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1F9E3-3547-4517-A9B6-463FFB9B431F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E5203-41E1-E20C-B5B9-535010D35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1A257-3C93-33D2-56BB-2B1371FC8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BBBEF-204A-4D0D-B8A9-0AD1AF169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466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D278B-5C4A-A844-EDE4-BC5BFEF44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99518-3EE9-6BA5-1E29-8A7B28ABCF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3B95D-8037-7789-B1E1-09AE897FC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E5976A-A973-C18B-38CE-8AD465C92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1F9E3-3547-4517-A9B6-463FFB9B431F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A8E51-D2F0-FA7A-A2E2-B915DFCE4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9F52E-8C6E-5EEA-7AB3-BA192F24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BBBEF-204A-4D0D-B8A9-0AD1AF169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58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2E291-EC69-0BFB-DA1B-220BA10DA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BB3B6-65F1-3B26-FDF7-241A7A2E6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08256-2AD6-3220-3934-4D07D77B8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434C49-9946-B4E2-41F1-EE5A627AA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55F5A3-C645-BB74-F2AF-7628C22FF8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B919EE-597D-2551-1660-BC3569D80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1F9E3-3547-4517-A9B6-463FFB9B431F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F1A6A1-4B13-1506-17B6-92CC60F3D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A302F4-AEC5-C970-A41E-69BF9CFA5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BBBEF-204A-4D0D-B8A9-0AD1AF169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945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AE5A8-14F9-D609-AF61-2DFB0CFA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A2AD4-9CAD-5CFC-F641-9E44DBD43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1F9E3-3547-4517-A9B6-463FFB9B431F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CA0F6-2CE3-CBFE-5264-7FD61A4F0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5E61D4-9C4E-FCFD-C9D9-D6FD8E53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BBBEF-204A-4D0D-B8A9-0AD1AF169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301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B13419-9898-3957-533E-2CD892E11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1F9E3-3547-4517-A9B6-463FFB9B431F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2A916C-E45D-F8B0-9E46-9CA3C4627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25339-11A6-9965-C61B-EFD543DE4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BBBEF-204A-4D0D-B8A9-0AD1AF169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02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7BD4-DA33-AD18-8D97-8F724F157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70BF1-0C9E-9FA0-4580-B0F093565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5BB93D-916A-888D-73A4-B5A13AE82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607A7-9E28-B181-2C0D-1E3ABC66B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1F9E3-3547-4517-A9B6-463FFB9B431F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B97C8-12B5-2FFB-75CA-571372EF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0AB06-A57B-53AA-DB16-E39E5F73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BBBEF-204A-4D0D-B8A9-0AD1AF169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472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6A57B-CB7A-2136-1B85-EBD9E2D43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6816CF-835D-1BC1-14CB-855DA759C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09EEA9-FD40-1BA6-BB82-F1F4B986F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268DC9-E0CC-E710-92FA-44FFB6900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1F9E3-3547-4517-A9B6-463FFB9B431F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C9805-A267-9D73-7DC7-3EB19F4AD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34774-AA41-5B43-3065-86D214227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BBBEF-204A-4D0D-B8A9-0AD1AF169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199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AEA7C-BCB3-5E98-C153-40163A2D0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4DF96-B42A-4D6A-8420-F91D30554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8A2DA-DB47-FBE0-E297-46B1FA15A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1F9E3-3547-4517-A9B6-463FFB9B431F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30947-4E03-4316-C668-738E996FB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6D3B7-F22A-AA5E-97D0-78F62131C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BBBEF-204A-4D0D-B8A9-0AD1AF169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863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D71208-430F-6143-2820-B1FB31D26F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110A1-3E29-3BC2-7D8E-D7C85700E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02549-5775-084F-804D-EE0E1040F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1F9E3-3547-4517-A9B6-463FFB9B431F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9411D-3E4D-6AFA-23DC-A7355CCC1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47E36-5E87-9E5F-4A54-BD1C1E8C4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BBBEF-204A-4D0D-B8A9-0AD1AF169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77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27199-6D69-417A-1C17-68B93840A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7BC56-6B99-5291-CE37-1865C4B7A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1EFDF-F93C-51BF-F4A7-6AB2B4F774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F1F9E3-3547-4517-A9B6-463FFB9B431F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D8BAA-AD27-E93D-153D-3E772754D8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CAB1B-6464-0322-69C7-75EC2BB381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1BBBEF-204A-4D0D-B8A9-0AD1AF169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94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16C1DE3-5E17-46C7-C033-6E9F67BA0AFE}"/>
              </a:ext>
            </a:extLst>
          </p:cNvPr>
          <p:cNvGrpSpPr/>
          <p:nvPr/>
        </p:nvGrpSpPr>
        <p:grpSpPr>
          <a:xfrm>
            <a:off x="2369573" y="516186"/>
            <a:ext cx="1210554" cy="6241791"/>
            <a:chOff x="4571999" y="-174525"/>
            <a:chExt cx="1210554" cy="6241791"/>
          </a:xfrm>
        </p:grpSpPr>
        <p:sp>
          <p:nvSpPr>
            <p:cNvPr id="10" name="Google Shape;330;p20">
              <a:extLst>
                <a:ext uri="{FF2B5EF4-FFF2-40B4-BE49-F238E27FC236}">
                  <a16:creationId xmlns:a16="http://schemas.microsoft.com/office/drawing/2014/main" id="{020E0C16-17F7-7473-C889-DA46C776A8C5}"/>
                </a:ext>
              </a:extLst>
            </p:cNvPr>
            <p:cNvSpPr/>
            <p:nvPr/>
          </p:nvSpPr>
          <p:spPr>
            <a:xfrm rot="-5064699">
              <a:off x="4758246" y="1678465"/>
              <a:ext cx="917206" cy="159675"/>
            </a:xfrm>
            <a:custGeom>
              <a:avLst/>
              <a:gdLst/>
              <a:ahLst/>
              <a:cxnLst/>
              <a:rect l="l" t="t" r="r" b="b"/>
              <a:pathLst>
                <a:path w="1834412" h="319351" extrusionOk="0">
                  <a:moveTo>
                    <a:pt x="0" y="0"/>
                  </a:moveTo>
                  <a:lnTo>
                    <a:pt x="1834411" y="0"/>
                  </a:lnTo>
                  <a:lnTo>
                    <a:pt x="1834411" y="319351"/>
                  </a:lnTo>
                  <a:lnTo>
                    <a:pt x="0" y="31935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l="-2129" t="-197134" r="-26103" b="-233566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Google Shape;326;p20">
              <a:extLst>
                <a:ext uri="{FF2B5EF4-FFF2-40B4-BE49-F238E27FC236}">
                  <a16:creationId xmlns:a16="http://schemas.microsoft.com/office/drawing/2014/main" id="{D004C883-9E15-5D21-F025-3E596DCB7625}"/>
                </a:ext>
              </a:extLst>
            </p:cNvPr>
            <p:cNvSpPr/>
            <p:nvPr/>
          </p:nvSpPr>
          <p:spPr>
            <a:xfrm>
              <a:off x="4572001" y="520631"/>
              <a:ext cx="1210552" cy="1002195"/>
            </a:xfrm>
            <a:custGeom>
              <a:avLst/>
              <a:gdLst/>
              <a:ahLst/>
              <a:cxnLst/>
              <a:rect l="l" t="t" r="r" b="b"/>
              <a:pathLst>
                <a:path w="2421104" h="2004390" extrusionOk="0">
                  <a:moveTo>
                    <a:pt x="0" y="0"/>
                  </a:moveTo>
                  <a:lnTo>
                    <a:pt x="2421104" y="0"/>
                  </a:lnTo>
                  <a:lnTo>
                    <a:pt x="2421104" y="2004390"/>
                  </a:lnTo>
                  <a:lnTo>
                    <a:pt x="0" y="20043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Google Shape;327;p20">
              <a:extLst>
                <a:ext uri="{FF2B5EF4-FFF2-40B4-BE49-F238E27FC236}">
                  <a16:creationId xmlns:a16="http://schemas.microsoft.com/office/drawing/2014/main" id="{9C1A3306-3D6A-A6F3-6247-DF8730E061B0}"/>
                </a:ext>
              </a:extLst>
            </p:cNvPr>
            <p:cNvSpPr/>
            <p:nvPr/>
          </p:nvSpPr>
          <p:spPr>
            <a:xfrm>
              <a:off x="4572001" y="1968431"/>
              <a:ext cx="1210552" cy="1002195"/>
            </a:xfrm>
            <a:custGeom>
              <a:avLst/>
              <a:gdLst/>
              <a:ahLst/>
              <a:cxnLst/>
              <a:rect l="l" t="t" r="r" b="b"/>
              <a:pathLst>
                <a:path w="2421104" h="2004390" extrusionOk="0">
                  <a:moveTo>
                    <a:pt x="0" y="0"/>
                  </a:moveTo>
                  <a:lnTo>
                    <a:pt x="2421104" y="0"/>
                  </a:lnTo>
                  <a:lnTo>
                    <a:pt x="2421104" y="2004390"/>
                  </a:lnTo>
                  <a:lnTo>
                    <a:pt x="0" y="20043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Google Shape;328;p20">
              <a:extLst>
                <a:ext uri="{FF2B5EF4-FFF2-40B4-BE49-F238E27FC236}">
                  <a16:creationId xmlns:a16="http://schemas.microsoft.com/office/drawing/2014/main" id="{3051D087-6B95-7A0F-D02E-81D867DFE457}"/>
                </a:ext>
              </a:extLst>
            </p:cNvPr>
            <p:cNvSpPr/>
            <p:nvPr/>
          </p:nvSpPr>
          <p:spPr>
            <a:xfrm>
              <a:off x="4571999" y="4171299"/>
              <a:ext cx="1210552" cy="1002195"/>
            </a:xfrm>
            <a:custGeom>
              <a:avLst/>
              <a:gdLst/>
              <a:ahLst/>
              <a:cxnLst/>
              <a:rect l="l" t="t" r="r" b="b"/>
              <a:pathLst>
                <a:path w="2421104" h="2004390" extrusionOk="0">
                  <a:moveTo>
                    <a:pt x="0" y="0"/>
                  </a:moveTo>
                  <a:lnTo>
                    <a:pt x="2421104" y="0"/>
                  </a:lnTo>
                  <a:lnTo>
                    <a:pt x="2421104" y="2004390"/>
                  </a:lnTo>
                  <a:lnTo>
                    <a:pt x="0" y="20043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Google Shape;331;p20">
              <a:extLst>
                <a:ext uri="{FF2B5EF4-FFF2-40B4-BE49-F238E27FC236}">
                  <a16:creationId xmlns:a16="http://schemas.microsoft.com/office/drawing/2014/main" id="{E2A5FE26-998B-1A6F-727A-342447F89DCB}"/>
                </a:ext>
              </a:extLst>
            </p:cNvPr>
            <p:cNvSpPr/>
            <p:nvPr/>
          </p:nvSpPr>
          <p:spPr>
            <a:xfrm rot="16535301">
              <a:off x="4459827" y="3522884"/>
              <a:ext cx="1493588" cy="195516"/>
            </a:xfrm>
            <a:custGeom>
              <a:avLst/>
              <a:gdLst/>
              <a:ahLst/>
              <a:cxnLst/>
              <a:rect l="l" t="t" r="r" b="b"/>
              <a:pathLst>
                <a:path w="1834412" h="319351" extrusionOk="0">
                  <a:moveTo>
                    <a:pt x="0" y="0"/>
                  </a:moveTo>
                  <a:lnTo>
                    <a:pt x="1834411" y="0"/>
                  </a:lnTo>
                  <a:lnTo>
                    <a:pt x="1834411" y="319351"/>
                  </a:lnTo>
                  <a:lnTo>
                    <a:pt x="0" y="31935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l="-2129" t="-197134" r="-26103" b="-233566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Google Shape;332;p20">
              <a:extLst>
                <a:ext uri="{FF2B5EF4-FFF2-40B4-BE49-F238E27FC236}">
                  <a16:creationId xmlns:a16="http://schemas.microsoft.com/office/drawing/2014/main" id="{27E6857D-4CFA-0FF5-371E-7C42CDC541EF}"/>
                </a:ext>
              </a:extLst>
            </p:cNvPr>
            <p:cNvSpPr/>
            <p:nvPr/>
          </p:nvSpPr>
          <p:spPr>
            <a:xfrm rot="-5064699">
              <a:off x="4758247" y="204240"/>
              <a:ext cx="917206" cy="159675"/>
            </a:xfrm>
            <a:custGeom>
              <a:avLst/>
              <a:gdLst/>
              <a:ahLst/>
              <a:cxnLst/>
              <a:rect l="l" t="t" r="r" b="b"/>
              <a:pathLst>
                <a:path w="1834412" h="319351" extrusionOk="0">
                  <a:moveTo>
                    <a:pt x="0" y="0"/>
                  </a:moveTo>
                  <a:lnTo>
                    <a:pt x="1834411" y="0"/>
                  </a:lnTo>
                  <a:lnTo>
                    <a:pt x="1834411" y="319351"/>
                  </a:lnTo>
                  <a:lnTo>
                    <a:pt x="0" y="31935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l="-2129" t="-197134" r="-26103" b="-233566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Google Shape;333;p20">
              <a:extLst>
                <a:ext uri="{FF2B5EF4-FFF2-40B4-BE49-F238E27FC236}">
                  <a16:creationId xmlns:a16="http://schemas.microsoft.com/office/drawing/2014/main" id="{2F0B7BE7-686F-BAAE-0851-502D8AA7E1E1}"/>
                </a:ext>
              </a:extLst>
            </p:cNvPr>
            <p:cNvSpPr/>
            <p:nvPr/>
          </p:nvSpPr>
          <p:spPr>
            <a:xfrm rot="16535301">
              <a:off x="4718672" y="5528825"/>
              <a:ext cx="917206" cy="159675"/>
            </a:xfrm>
            <a:custGeom>
              <a:avLst/>
              <a:gdLst/>
              <a:ahLst/>
              <a:cxnLst/>
              <a:rect l="l" t="t" r="r" b="b"/>
              <a:pathLst>
                <a:path w="1834412" h="319351" extrusionOk="0">
                  <a:moveTo>
                    <a:pt x="0" y="0"/>
                  </a:moveTo>
                  <a:lnTo>
                    <a:pt x="1834411" y="0"/>
                  </a:lnTo>
                  <a:lnTo>
                    <a:pt x="1834411" y="319351"/>
                  </a:lnTo>
                  <a:lnTo>
                    <a:pt x="0" y="31935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l="-2129" t="-197134" r="-26103" b="-233566"/>
              </a:stretch>
            </a:blip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Google Shape;425;p23">
            <a:extLst>
              <a:ext uri="{FF2B5EF4-FFF2-40B4-BE49-F238E27FC236}">
                <a16:creationId xmlns:a16="http://schemas.microsoft.com/office/drawing/2014/main" id="{F085188B-10B4-0D4B-9694-2B7115F56AA7}"/>
              </a:ext>
            </a:extLst>
          </p:cNvPr>
          <p:cNvSpPr/>
          <p:nvPr/>
        </p:nvSpPr>
        <p:spPr>
          <a:xfrm flipH="1">
            <a:off x="9371951" y="6027440"/>
            <a:ext cx="371801" cy="400110"/>
          </a:xfrm>
          <a:custGeom>
            <a:avLst/>
            <a:gdLst/>
            <a:ahLst/>
            <a:cxnLst/>
            <a:rect l="l" t="t" r="r" b="b"/>
            <a:pathLst>
              <a:path w="2839617" h="2715706" extrusionOk="0">
                <a:moveTo>
                  <a:pt x="0" y="0"/>
                </a:moveTo>
                <a:lnTo>
                  <a:pt x="2839617" y="0"/>
                </a:lnTo>
                <a:lnTo>
                  <a:pt x="2839617" y="2715706"/>
                </a:lnTo>
                <a:lnTo>
                  <a:pt x="0" y="27157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Google Shape;557;p28">
            <a:extLst>
              <a:ext uri="{FF2B5EF4-FFF2-40B4-BE49-F238E27FC236}">
                <a16:creationId xmlns:a16="http://schemas.microsoft.com/office/drawing/2014/main" id="{50B6D237-9AC0-6716-53D2-C2D1732DBF8A}"/>
              </a:ext>
            </a:extLst>
          </p:cNvPr>
          <p:cNvSpPr/>
          <p:nvPr/>
        </p:nvSpPr>
        <p:spPr>
          <a:xfrm>
            <a:off x="3200621" y="3866298"/>
            <a:ext cx="782586" cy="418985"/>
          </a:xfrm>
          <a:custGeom>
            <a:avLst/>
            <a:gdLst/>
            <a:ahLst/>
            <a:cxnLst/>
            <a:rect l="l" t="t" r="r" b="b"/>
            <a:pathLst>
              <a:path w="2893932" h="1536644" extrusionOk="0">
                <a:moveTo>
                  <a:pt x="0" y="0"/>
                </a:moveTo>
                <a:lnTo>
                  <a:pt x="2893932" y="0"/>
                </a:lnTo>
                <a:lnTo>
                  <a:pt x="2893932" y="1536644"/>
                </a:lnTo>
                <a:lnTo>
                  <a:pt x="0" y="1536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6" name="Google Shape;541;p27">
            <a:extLst>
              <a:ext uri="{FF2B5EF4-FFF2-40B4-BE49-F238E27FC236}">
                <a16:creationId xmlns:a16="http://schemas.microsoft.com/office/drawing/2014/main" id="{43C2910E-E864-FA61-9B81-84FE276B6D12}"/>
              </a:ext>
            </a:extLst>
          </p:cNvPr>
          <p:cNvSpPr/>
          <p:nvPr/>
        </p:nvSpPr>
        <p:spPr>
          <a:xfrm rot="1014944">
            <a:off x="3637803" y="4692843"/>
            <a:ext cx="568058" cy="825654"/>
          </a:xfrm>
          <a:custGeom>
            <a:avLst/>
            <a:gdLst/>
            <a:ahLst/>
            <a:cxnLst/>
            <a:rect l="l" t="t" r="r" b="b"/>
            <a:pathLst>
              <a:path w="2632305" h="4114800" extrusionOk="0">
                <a:moveTo>
                  <a:pt x="0" y="0"/>
                </a:moveTo>
                <a:lnTo>
                  <a:pt x="2632305" y="0"/>
                </a:lnTo>
                <a:lnTo>
                  <a:pt x="26323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7" name="Google Shape;520;p26">
            <a:extLst>
              <a:ext uri="{FF2B5EF4-FFF2-40B4-BE49-F238E27FC236}">
                <a16:creationId xmlns:a16="http://schemas.microsoft.com/office/drawing/2014/main" id="{510F62A1-5CA6-6355-6C44-998B31D7FA49}"/>
              </a:ext>
            </a:extLst>
          </p:cNvPr>
          <p:cNvSpPr/>
          <p:nvPr/>
        </p:nvSpPr>
        <p:spPr>
          <a:xfrm>
            <a:off x="-2317783" y="4551488"/>
            <a:ext cx="4119950" cy="4114800"/>
          </a:xfrm>
          <a:custGeom>
            <a:avLst/>
            <a:gdLst/>
            <a:ahLst/>
            <a:cxnLst/>
            <a:rect l="l" t="t" r="r" b="b"/>
            <a:pathLst>
              <a:path w="8239900" h="8229600" extrusionOk="0">
                <a:moveTo>
                  <a:pt x="0" y="0"/>
                </a:moveTo>
                <a:lnTo>
                  <a:pt x="8239900" y="0"/>
                </a:lnTo>
                <a:lnTo>
                  <a:pt x="82399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E3144AB-EFFA-87DB-82D2-DB645BD46F9B}"/>
              </a:ext>
            </a:extLst>
          </p:cNvPr>
          <p:cNvSpPr/>
          <p:nvPr/>
        </p:nvSpPr>
        <p:spPr>
          <a:xfrm>
            <a:off x="-93785" y="0"/>
            <a:ext cx="12379569" cy="809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Google Shape;359;p21">
            <a:extLst>
              <a:ext uri="{FF2B5EF4-FFF2-40B4-BE49-F238E27FC236}">
                <a16:creationId xmlns:a16="http://schemas.microsoft.com/office/drawing/2014/main" id="{7CAB7744-6883-E1E7-6472-6A4901018D8A}"/>
              </a:ext>
            </a:extLst>
          </p:cNvPr>
          <p:cNvSpPr/>
          <p:nvPr/>
        </p:nvSpPr>
        <p:spPr>
          <a:xfrm>
            <a:off x="-292945" y="-1238866"/>
            <a:ext cx="2695382" cy="1556149"/>
          </a:xfrm>
          <a:custGeom>
            <a:avLst/>
            <a:gdLst/>
            <a:ahLst/>
            <a:cxnLst/>
            <a:rect l="l" t="t" r="r" b="b"/>
            <a:pathLst>
              <a:path w="14597960" h="8229600" extrusionOk="0">
                <a:moveTo>
                  <a:pt x="0" y="0"/>
                </a:moveTo>
                <a:lnTo>
                  <a:pt x="14597960" y="0"/>
                </a:lnTo>
                <a:lnTo>
                  <a:pt x="145979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4" name="Google Shape;357;p21">
            <a:extLst>
              <a:ext uri="{FF2B5EF4-FFF2-40B4-BE49-F238E27FC236}">
                <a16:creationId xmlns:a16="http://schemas.microsoft.com/office/drawing/2014/main" id="{BB5870B0-8F2E-8BA8-1B68-E2DE8787F38A}"/>
              </a:ext>
            </a:extLst>
          </p:cNvPr>
          <p:cNvSpPr/>
          <p:nvPr/>
        </p:nvSpPr>
        <p:spPr>
          <a:xfrm rot="-4350753">
            <a:off x="9897117" y="-2419334"/>
            <a:ext cx="5996066" cy="4114800"/>
          </a:xfrm>
          <a:custGeom>
            <a:avLst/>
            <a:gdLst/>
            <a:ahLst/>
            <a:cxnLst/>
            <a:rect l="l" t="t" r="r" b="b"/>
            <a:pathLst>
              <a:path w="11992131" h="8229600" extrusionOk="0">
                <a:moveTo>
                  <a:pt x="0" y="0"/>
                </a:moveTo>
                <a:lnTo>
                  <a:pt x="11992131" y="0"/>
                </a:lnTo>
                <a:lnTo>
                  <a:pt x="1199213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529EB1-CB03-BE9A-FB2B-01226B2AFF4E}"/>
              </a:ext>
            </a:extLst>
          </p:cNvPr>
          <p:cNvSpPr txBox="1"/>
          <p:nvPr/>
        </p:nvSpPr>
        <p:spPr>
          <a:xfrm>
            <a:off x="2759086" y="86781"/>
            <a:ext cx="8098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Bradley Hand ITC" panose="03070402050302030203" pitchFamily="66" charset="0"/>
              </a:rPr>
              <a:t>My   Journey so far with PAC …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7DE1AB-99DD-1C6D-944E-2FA9E8D459D0}"/>
              </a:ext>
            </a:extLst>
          </p:cNvPr>
          <p:cNvSpPr txBox="1"/>
          <p:nvPr/>
        </p:nvSpPr>
        <p:spPr>
          <a:xfrm>
            <a:off x="2244904" y="1430669"/>
            <a:ext cx="1356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Bradley Hand ITC" panose="03070402050302030203" pitchFamily="66" charset="0"/>
              </a:rPr>
              <a:t>31</a:t>
            </a:r>
            <a:r>
              <a:rPr lang="en-IN" b="1" baseline="30000" dirty="0">
                <a:latin typeface="Bradley Hand ITC" panose="03070402050302030203" pitchFamily="66" charset="0"/>
              </a:rPr>
              <a:t>st</a:t>
            </a:r>
            <a:r>
              <a:rPr lang="en-IN" b="1" dirty="0">
                <a:latin typeface="Bradley Hand ITC" panose="03070402050302030203" pitchFamily="66" charset="0"/>
              </a:rPr>
              <a:t> </a:t>
            </a:r>
          </a:p>
          <a:p>
            <a:pPr algn="ctr"/>
            <a:r>
              <a:rPr lang="en-IN" b="1" dirty="0">
                <a:latin typeface="Bradley Hand ITC" panose="03070402050302030203" pitchFamily="66" charset="0"/>
              </a:rPr>
              <a:t>October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7A111D-6843-DA5E-EB97-C534C34ABD46}"/>
              </a:ext>
            </a:extLst>
          </p:cNvPr>
          <p:cNvSpPr txBox="1"/>
          <p:nvPr/>
        </p:nvSpPr>
        <p:spPr>
          <a:xfrm>
            <a:off x="2296587" y="2898838"/>
            <a:ext cx="1356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Bradley Hand ITC" panose="03070402050302030203" pitchFamily="66" charset="0"/>
              </a:rPr>
              <a:t>14th</a:t>
            </a:r>
          </a:p>
          <a:p>
            <a:pPr algn="ctr"/>
            <a:r>
              <a:rPr lang="en-IN" b="1" dirty="0">
                <a:latin typeface="Bradley Hand ITC" panose="03070402050302030203" pitchFamily="66" charset="0"/>
              </a:rPr>
              <a:t>November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D0F45B-3A0B-58FB-5110-E7BF62D8F922}"/>
              </a:ext>
            </a:extLst>
          </p:cNvPr>
          <p:cNvSpPr txBox="1"/>
          <p:nvPr/>
        </p:nvSpPr>
        <p:spPr>
          <a:xfrm>
            <a:off x="2283121" y="5070987"/>
            <a:ext cx="1356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Bradley Hand ITC" panose="03070402050302030203" pitchFamily="66" charset="0"/>
              </a:rPr>
              <a:t>2</a:t>
            </a:r>
            <a:r>
              <a:rPr lang="en-IN" b="1" baseline="30000" dirty="0">
                <a:latin typeface="Bradley Hand ITC" panose="03070402050302030203" pitchFamily="66" charset="0"/>
              </a:rPr>
              <a:t>nd</a:t>
            </a:r>
            <a:r>
              <a:rPr lang="en-IN" b="1" dirty="0">
                <a:latin typeface="Bradley Hand ITC" panose="03070402050302030203" pitchFamily="66" charset="0"/>
              </a:rPr>
              <a:t> </a:t>
            </a:r>
          </a:p>
          <a:p>
            <a:pPr algn="ctr"/>
            <a:r>
              <a:rPr lang="en-IN" b="1" dirty="0">
                <a:latin typeface="Bradley Hand ITC" panose="03070402050302030203" pitchFamily="66" charset="0"/>
              </a:rPr>
              <a:t>December </a:t>
            </a:r>
          </a:p>
        </p:txBody>
      </p:sp>
      <p:sp>
        <p:nvSpPr>
          <p:cNvPr id="39" name="Google Shape;385;p22">
            <a:extLst>
              <a:ext uri="{FF2B5EF4-FFF2-40B4-BE49-F238E27FC236}">
                <a16:creationId xmlns:a16="http://schemas.microsoft.com/office/drawing/2014/main" id="{B6CF4672-02BA-8CF3-2FE9-F86D782DF01A}"/>
              </a:ext>
            </a:extLst>
          </p:cNvPr>
          <p:cNvSpPr/>
          <p:nvPr/>
        </p:nvSpPr>
        <p:spPr>
          <a:xfrm rot="21116280">
            <a:off x="162298" y="969218"/>
            <a:ext cx="418750" cy="554438"/>
          </a:xfrm>
          <a:custGeom>
            <a:avLst/>
            <a:gdLst/>
            <a:ahLst/>
            <a:cxnLst/>
            <a:rect l="l" t="t" r="r" b="b"/>
            <a:pathLst>
              <a:path w="2319742" h="3951653" extrusionOk="0">
                <a:moveTo>
                  <a:pt x="0" y="0"/>
                </a:moveTo>
                <a:lnTo>
                  <a:pt x="2319742" y="0"/>
                </a:lnTo>
                <a:lnTo>
                  <a:pt x="2319742" y="3951653"/>
                </a:lnTo>
                <a:lnTo>
                  <a:pt x="0" y="39516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A3D58A4-5389-3D19-2F5A-4B95091BD52D}"/>
              </a:ext>
            </a:extLst>
          </p:cNvPr>
          <p:cNvSpPr txBox="1"/>
          <p:nvPr/>
        </p:nvSpPr>
        <p:spPr>
          <a:xfrm>
            <a:off x="577835" y="968043"/>
            <a:ext cx="20059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Bradley Hand ITC" panose="03070402050302030203" pitchFamily="66" charset="0"/>
              </a:rPr>
              <a:t>Taking Baby steps : Downloading Submission file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02875A-B777-2AF5-6D13-713023022698}"/>
              </a:ext>
            </a:extLst>
          </p:cNvPr>
          <p:cNvSpPr txBox="1"/>
          <p:nvPr/>
        </p:nvSpPr>
        <p:spPr>
          <a:xfrm>
            <a:off x="4525828" y="877373"/>
            <a:ext cx="6511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radley Hand ITC" panose="03070402050302030203" pitchFamily="66" charset="0"/>
              </a:rPr>
              <a:t>Initiated with the first submission file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36838B0-F72E-B56B-60C6-D8872E23B5E1}"/>
              </a:ext>
            </a:extLst>
          </p:cNvPr>
          <p:cNvSpPr txBox="1"/>
          <p:nvPr/>
        </p:nvSpPr>
        <p:spPr>
          <a:xfrm>
            <a:off x="5581092" y="1131202"/>
            <a:ext cx="29340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92D050"/>
                </a:solidFill>
                <a:latin typeface="Bradley Hand ITC" panose="03070402050302030203" pitchFamily="66" charset="0"/>
              </a:rPr>
              <a:t>model = </a:t>
            </a:r>
            <a:r>
              <a:rPr lang="en-IN" sz="1400" b="1" dirty="0" err="1">
                <a:solidFill>
                  <a:srgbClr val="92D050"/>
                </a:solidFill>
                <a:latin typeface="Bradley Hand ITC" panose="03070402050302030203" pitchFamily="66" charset="0"/>
              </a:rPr>
              <a:t>lm</a:t>
            </a:r>
            <a:r>
              <a:rPr lang="en-IN" sz="1400" b="1" dirty="0">
                <a:solidFill>
                  <a:srgbClr val="92D050"/>
                </a:solidFill>
                <a:latin typeface="Bradley Hand ITC" panose="03070402050302030203" pitchFamily="66" charset="0"/>
              </a:rPr>
              <a:t>(CTR ~ 1,data)</a:t>
            </a:r>
          </a:p>
        </p:txBody>
      </p:sp>
      <p:sp>
        <p:nvSpPr>
          <p:cNvPr id="45" name="Google Shape;385;p22">
            <a:extLst>
              <a:ext uri="{FF2B5EF4-FFF2-40B4-BE49-F238E27FC236}">
                <a16:creationId xmlns:a16="http://schemas.microsoft.com/office/drawing/2014/main" id="{72C3A43E-AC54-E8D4-3DC6-43EBA6590E68}"/>
              </a:ext>
            </a:extLst>
          </p:cNvPr>
          <p:cNvSpPr/>
          <p:nvPr/>
        </p:nvSpPr>
        <p:spPr>
          <a:xfrm rot="21116280">
            <a:off x="78331" y="3217094"/>
            <a:ext cx="418750" cy="554438"/>
          </a:xfrm>
          <a:custGeom>
            <a:avLst/>
            <a:gdLst/>
            <a:ahLst/>
            <a:cxnLst/>
            <a:rect l="l" t="t" r="r" b="b"/>
            <a:pathLst>
              <a:path w="2319742" h="3951653" extrusionOk="0">
                <a:moveTo>
                  <a:pt x="0" y="0"/>
                </a:moveTo>
                <a:lnTo>
                  <a:pt x="2319742" y="0"/>
                </a:lnTo>
                <a:lnTo>
                  <a:pt x="2319742" y="3951653"/>
                </a:lnTo>
                <a:lnTo>
                  <a:pt x="0" y="39516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D4DA794-5C1A-5B22-A695-DEE4D5F9FDAE}"/>
              </a:ext>
            </a:extLst>
          </p:cNvPr>
          <p:cNvSpPr/>
          <p:nvPr/>
        </p:nvSpPr>
        <p:spPr>
          <a:xfrm>
            <a:off x="8656648" y="914449"/>
            <a:ext cx="2024710" cy="451248"/>
          </a:xfrm>
          <a:prstGeom prst="roundRect">
            <a:avLst>
              <a:gd name="adj" fmla="val 23804"/>
            </a:avLst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Bradley Hand ITC" panose="03070402050302030203" pitchFamily="66" charset="0"/>
              </a:rPr>
              <a:t>RMSE : 0.19463</a:t>
            </a:r>
          </a:p>
        </p:txBody>
      </p:sp>
      <p:sp>
        <p:nvSpPr>
          <p:cNvPr id="47" name="Google Shape;385;p22">
            <a:extLst>
              <a:ext uri="{FF2B5EF4-FFF2-40B4-BE49-F238E27FC236}">
                <a16:creationId xmlns:a16="http://schemas.microsoft.com/office/drawing/2014/main" id="{3C365953-3E5E-AE04-4E28-938AF104FB7D}"/>
              </a:ext>
            </a:extLst>
          </p:cNvPr>
          <p:cNvSpPr/>
          <p:nvPr/>
        </p:nvSpPr>
        <p:spPr>
          <a:xfrm rot="21116280">
            <a:off x="228967" y="2017483"/>
            <a:ext cx="418750" cy="554438"/>
          </a:xfrm>
          <a:custGeom>
            <a:avLst/>
            <a:gdLst/>
            <a:ahLst/>
            <a:cxnLst/>
            <a:rect l="l" t="t" r="r" b="b"/>
            <a:pathLst>
              <a:path w="2319742" h="3951653" extrusionOk="0">
                <a:moveTo>
                  <a:pt x="0" y="0"/>
                </a:moveTo>
                <a:lnTo>
                  <a:pt x="2319742" y="0"/>
                </a:lnTo>
                <a:lnTo>
                  <a:pt x="2319742" y="3951653"/>
                </a:lnTo>
                <a:lnTo>
                  <a:pt x="0" y="39516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53196C-0CE0-3926-3CA4-8E7778C10727}"/>
              </a:ext>
            </a:extLst>
          </p:cNvPr>
          <p:cNvSpPr txBox="1"/>
          <p:nvPr/>
        </p:nvSpPr>
        <p:spPr>
          <a:xfrm>
            <a:off x="690809" y="2006788"/>
            <a:ext cx="13565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Bradley Hand ITC" panose="03070402050302030203" pitchFamily="66" charset="0"/>
              </a:rPr>
              <a:t>What’s going wrong !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8740AC-4614-41B2-BB98-7B2CDB0CB6B8}"/>
              </a:ext>
            </a:extLst>
          </p:cNvPr>
          <p:cNvSpPr txBox="1"/>
          <p:nvPr/>
        </p:nvSpPr>
        <p:spPr>
          <a:xfrm>
            <a:off x="3783018" y="1663404"/>
            <a:ext cx="48035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Bradley Hand ITC" panose="03070402050302030203" pitchFamily="66" charset="0"/>
              </a:rPr>
              <a:t>My RMSE is not getting lowered , did some data processing , replaced N/A , converted character to factor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Bradley Hand ITC" panose="03070402050302030203" pitchFamily="66" charset="0"/>
              </a:rPr>
              <a:t>Tried Various model such as Random feature selection, </a:t>
            </a:r>
            <a:r>
              <a:rPr lang="en-IN" sz="1400" b="1" dirty="0" err="1">
                <a:latin typeface="Bradley Hand ITC" panose="03070402050302030203" pitchFamily="66" charset="0"/>
              </a:rPr>
              <a:t>rpart</a:t>
            </a:r>
            <a:r>
              <a:rPr lang="en-IN" sz="1400" b="1" dirty="0">
                <a:latin typeface="Bradley Hand ITC" panose="03070402050302030203" pitchFamily="66" charset="0"/>
              </a:rPr>
              <a:t> , changed selected variables multiple times 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0891F4F-4A11-929C-5071-6DC823222800}"/>
              </a:ext>
            </a:extLst>
          </p:cNvPr>
          <p:cNvSpPr txBox="1"/>
          <p:nvPr/>
        </p:nvSpPr>
        <p:spPr>
          <a:xfrm>
            <a:off x="8346906" y="1637456"/>
            <a:ext cx="349085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rgbClr val="92D050"/>
                </a:solidFill>
                <a:latin typeface="Bradley Hand ITC" panose="03070402050302030203" pitchFamily="66" charset="0"/>
              </a:rPr>
              <a:t>rpart</a:t>
            </a:r>
            <a:r>
              <a:rPr lang="en-US" sz="1400" b="1" dirty="0">
                <a:solidFill>
                  <a:srgbClr val="92D050"/>
                </a:solidFill>
                <a:latin typeface="Bradley Hand ITC" panose="03070402050302030203" pitchFamily="66" charset="0"/>
              </a:rPr>
              <a:t>(CTR ~ </a:t>
            </a:r>
            <a:r>
              <a:rPr lang="en-US" sz="1400" b="1" dirty="0" err="1">
                <a:solidFill>
                  <a:srgbClr val="92D050"/>
                </a:solidFill>
                <a:latin typeface="Bradley Hand ITC" panose="03070402050302030203" pitchFamily="66" charset="0"/>
              </a:rPr>
              <a:t>cta_strength</a:t>
            </a:r>
            <a:r>
              <a:rPr lang="en-US" sz="1400" b="1" dirty="0">
                <a:solidFill>
                  <a:srgbClr val="92D050"/>
                </a:solidFill>
                <a:latin typeface="Bradley Hand ITC" panose="03070402050302030203" pitchFamily="66" charset="0"/>
              </a:rPr>
              <a:t> + </a:t>
            </a:r>
            <a:r>
              <a:rPr lang="en-US" sz="1400" b="1" dirty="0" err="1">
                <a:solidFill>
                  <a:srgbClr val="92D050"/>
                </a:solidFill>
                <a:latin typeface="Bradley Hand ITC" panose="03070402050302030203" pitchFamily="66" charset="0"/>
              </a:rPr>
              <a:t>targeting_score</a:t>
            </a:r>
            <a:r>
              <a:rPr lang="en-US" sz="1400" b="1" dirty="0">
                <a:solidFill>
                  <a:srgbClr val="92D050"/>
                </a:solidFill>
                <a:latin typeface="Bradley Hand ITC" panose="03070402050302030203" pitchFamily="66" charset="0"/>
              </a:rPr>
              <a:t> + </a:t>
            </a:r>
            <a:r>
              <a:rPr lang="en-US" sz="1400" b="1" dirty="0" err="1">
                <a:solidFill>
                  <a:srgbClr val="92D050"/>
                </a:solidFill>
                <a:latin typeface="Bradley Hand ITC" panose="03070402050302030203" pitchFamily="66" charset="0"/>
              </a:rPr>
              <a:t>visual_appeal</a:t>
            </a:r>
            <a:r>
              <a:rPr lang="en-US" sz="1400" b="1" dirty="0">
                <a:solidFill>
                  <a:srgbClr val="92D050"/>
                </a:solidFill>
                <a:latin typeface="Bradley Hand ITC" panose="03070402050302030203" pitchFamily="66" charset="0"/>
              </a:rPr>
              <a:t>, data = train)</a:t>
            </a:r>
            <a:endParaRPr lang="en-IN" sz="1400" b="1" dirty="0">
              <a:solidFill>
                <a:srgbClr val="92D05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53" name="Google Shape;496;p26">
            <a:extLst>
              <a:ext uri="{FF2B5EF4-FFF2-40B4-BE49-F238E27FC236}">
                <a16:creationId xmlns:a16="http://schemas.microsoft.com/office/drawing/2014/main" id="{336EF3CF-F65C-50D3-AF54-262A94EA20E1}"/>
              </a:ext>
            </a:extLst>
          </p:cNvPr>
          <p:cNvSpPr/>
          <p:nvPr/>
        </p:nvSpPr>
        <p:spPr>
          <a:xfrm>
            <a:off x="3350621" y="844039"/>
            <a:ext cx="782586" cy="620888"/>
          </a:xfrm>
          <a:custGeom>
            <a:avLst/>
            <a:gdLst/>
            <a:ahLst/>
            <a:cxnLst/>
            <a:rect l="l" t="t" r="r" b="b"/>
            <a:pathLst>
              <a:path w="2482311" h="1925107" extrusionOk="0">
                <a:moveTo>
                  <a:pt x="0" y="0"/>
                </a:moveTo>
                <a:lnTo>
                  <a:pt x="2482312" y="0"/>
                </a:lnTo>
                <a:lnTo>
                  <a:pt x="2482312" y="1925107"/>
                </a:lnTo>
                <a:lnTo>
                  <a:pt x="0" y="19251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AE233F7-21FD-FB0E-6839-E0D8E078CEE1}"/>
              </a:ext>
            </a:extLst>
          </p:cNvPr>
          <p:cNvSpPr/>
          <p:nvPr/>
        </p:nvSpPr>
        <p:spPr>
          <a:xfrm>
            <a:off x="9594226" y="2294702"/>
            <a:ext cx="2024710" cy="451248"/>
          </a:xfrm>
          <a:prstGeom prst="roundRect">
            <a:avLst>
              <a:gd name="adj" fmla="val 23804"/>
            </a:avLst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Bradley Hand ITC" panose="03070402050302030203" pitchFamily="66" charset="0"/>
              </a:rPr>
              <a:t>RMSE : 0.1028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B90EDA-EFDB-CD65-260D-C8084C9BCE62}"/>
              </a:ext>
            </a:extLst>
          </p:cNvPr>
          <p:cNvSpPr txBox="1"/>
          <p:nvPr/>
        </p:nvSpPr>
        <p:spPr>
          <a:xfrm>
            <a:off x="622742" y="3026798"/>
            <a:ext cx="19137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Bradley Hand ITC" panose="03070402050302030203" pitchFamily="66" charset="0"/>
              </a:rPr>
              <a:t>Some more trial and error : </a:t>
            </a:r>
            <a:r>
              <a:rPr lang="en-IN" sz="1600" b="1" dirty="0">
                <a:solidFill>
                  <a:srgbClr val="C00000"/>
                </a:solidFill>
                <a:latin typeface="Bradley Hand ITC" panose="03070402050302030203" pitchFamily="66" charset="0"/>
              </a:rPr>
              <a:t>selecting best variables</a:t>
            </a:r>
          </a:p>
          <a:p>
            <a:r>
              <a:rPr lang="en-IN" sz="1600" b="1" dirty="0">
                <a:solidFill>
                  <a:srgbClr val="C00000"/>
                </a:solidFill>
                <a:latin typeface="Bradley Hand ITC" panose="03070402050302030203" pitchFamily="66" charset="0"/>
              </a:rPr>
              <a:t>(24</a:t>
            </a:r>
            <a:r>
              <a:rPr lang="en-IN" sz="1600" b="1" baseline="30000" dirty="0">
                <a:solidFill>
                  <a:srgbClr val="C00000"/>
                </a:solidFill>
                <a:latin typeface="Bradley Hand ITC" panose="03070402050302030203" pitchFamily="66" charset="0"/>
              </a:rPr>
              <a:t>th</a:t>
            </a:r>
            <a:r>
              <a:rPr lang="en-IN" sz="1600" b="1" dirty="0">
                <a:solidFill>
                  <a:srgbClr val="C00000"/>
                </a:solidFill>
                <a:latin typeface="Bradley Hand ITC" panose="03070402050302030203" pitchFamily="66" charset="0"/>
              </a:rPr>
              <a:t> Submission)</a:t>
            </a:r>
          </a:p>
        </p:txBody>
      </p:sp>
      <p:sp>
        <p:nvSpPr>
          <p:cNvPr id="56" name="Google Shape;385;p22">
            <a:extLst>
              <a:ext uri="{FF2B5EF4-FFF2-40B4-BE49-F238E27FC236}">
                <a16:creationId xmlns:a16="http://schemas.microsoft.com/office/drawing/2014/main" id="{7825C8BB-06AC-65E1-DB88-17D68CD6CE00}"/>
              </a:ext>
            </a:extLst>
          </p:cNvPr>
          <p:cNvSpPr/>
          <p:nvPr/>
        </p:nvSpPr>
        <p:spPr>
          <a:xfrm rot="21116280">
            <a:off x="59203" y="4802692"/>
            <a:ext cx="418750" cy="554438"/>
          </a:xfrm>
          <a:custGeom>
            <a:avLst/>
            <a:gdLst/>
            <a:ahLst/>
            <a:cxnLst/>
            <a:rect l="l" t="t" r="r" b="b"/>
            <a:pathLst>
              <a:path w="2319742" h="3951653" extrusionOk="0">
                <a:moveTo>
                  <a:pt x="0" y="0"/>
                </a:moveTo>
                <a:lnTo>
                  <a:pt x="2319742" y="0"/>
                </a:lnTo>
                <a:lnTo>
                  <a:pt x="2319742" y="3951653"/>
                </a:lnTo>
                <a:lnTo>
                  <a:pt x="0" y="39516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A7B326-D4B6-E240-D669-6F64C5175328}"/>
              </a:ext>
            </a:extLst>
          </p:cNvPr>
          <p:cNvSpPr txBox="1"/>
          <p:nvPr/>
        </p:nvSpPr>
        <p:spPr>
          <a:xfrm>
            <a:off x="495047" y="4443448"/>
            <a:ext cx="20746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  <a:latin typeface="Bradley Hand ITC" panose="03070402050302030203" pitchFamily="66" charset="0"/>
              </a:rPr>
              <a:t>Realisation after 40th Submission:</a:t>
            </a:r>
          </a:p>
          <a:p>
            <a:r>
              <a:rPr lang="en-IN" b="1" dirty="0">
                <a:solidFill>
                  <a:srgbClr val="C00000"/>
                </a:solidFill>
                <a:latin typeface="Bradley Hand ITC" panose="03070402050302030203" pitchFamily="66" charset="0"/>
              </a:rPr>
              <a:t>Work on entire data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460DB203-1E46-8678-728E-A7EA02F9A5D5}"/>
              </a:ext>
            </a:extLst>
          </p:cNvPr>
          <p:cNvSpPr/>
          <p:nvPr/>
        </p:nvSpPr>
        <p:spPr>
          <a:xfrm>
            <a:off x="3775474" y="4042784"/>
            <a:ext cx="2024710" cy="451248"/>
          </a:xfrm>
          <a:prstGeom prst="roundRect">
            <a:avLst>
              <a:gd name="adj" fmla="val 23804"/>
            </a:avLst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Bradley Hand ITC" panose="03070402050302030203" pitchFamily="66" charset="0"/>
              </a:rPr>
              <a:t>RMSE : 0.08695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9C9CEAB-C91F-1C0C-DDCA-DA9D3A40CDDD}"/>
              </a:ext>
            </a:extLst>
          </p:cNvPr>
          <p:cNvSpPr/>
          <p:nvPr/>
        </p:nvSpPr>
        <p:spPr>
          <a:xfrm>
            <a:off x="4115703" y="5144958"/>
            <a:ext cx="2024710" cy="451248"/>
          </a:xfrm>
          <a:prstGeom prst="roundRect">
            <a:avLst>
              <a:gd name="adj" fmla="val 23804"/>
            </a:avLst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Bradley Hand ITC" panose="03070402050302030203" pitchFamily="66" charset="0"/>
              </a:rPr>
              <a:t>RMSE : 0.08288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99F39EC7-E5CC-7472-0F51-2E7DADF4E684}"/>
              </a:ext>
            </a:extLst>
          </p:cNvPr>
          <p:cNvSpPr/>
          <p:nvPr/>
        </p:nvSpPr>
        <p:spPr>
          <a:xfrm>
            <a:off x="3174212" y="5866678"/>
            <a:ext cx="6010866" cy="100219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Google Shape;423;p23">
            <a:extLst>
              <a:ext uri="{FF2B5EF4-FFF2-40B4-BE49-F238E27FC236}">
                <a16:creationId xmlns:a16="http://schemas.microsoft.com/office/drawing/2014/main" id="{AFF978D5-AE9D-B8DB-CCC7-B1C2737F81E7}"/>
              </a:ext>
            </a:extLst>
          </p:cNvPr>
          <p:cNvSpPr/>
          <p:nvPr/>
        </p:nvSpPr>
        <p:spPr>
          <a:xfrm rot="279786">
            <a:off x="3621133" y="5911701"/>
            <a:ext cx="729017" cy="748505"/>
          </a:xfrm>
          <a:custGeom>
            <a:avLst/>
            <a:gdLst/>
            <a:ahLst/>
            <a:cxnLst/>
            <a:rect l="l" t="t" r="r" b="b"/>
            <a:pathLst>
              <a:path w="2206539" h="2379439" extrusionOk="0">
                <a:moveTo>
                  <a:pt x="0" y="0"/>
                </a:moveTo>
                <a:lnTo>
                  <a:pt x="2206539" y="0"/>
                </a:lnTo>
                <a:lnTo>
                  <a:pt x="2206539" y="2379439"/>
                </a:lnTo>
                <a:lnTo>
                  <a:pt x="0" y="2379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CC84D6-482B-6D97-F3A8-E448EEB8957A}"/>
              </a:ext>
            </a:extLst>
          </p:cNvPr>
          <p:cNvSpPr txBox="1"/>
          <p:nvPr/>
        </p:nvSpPr>
        <p:spPr>
          <a:xfrm>
            <a:off x="4633719" y="5997100"/>
            <a:ext cx="53968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Bradley Hand ITC" panose="03070402050302030203" pitchFamily="66" charset="0"/>
              </a:rPr>
              <a:t>What could have been done better ?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1578E69-2966-9107-08F1-CCA65A8CB24B}"/>
              </a:ext>
            </a:extLst>
          </p:cNvPr>
          <p:cNvSpPr txBox="1"/>
          <p:nvPr/>
        </p:nvSpPr>
        <p:spPr>
          <a:xfrm>
            <a:off x="3983207" y="6367776"/>
            <a:ext cx="5396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  <a:latin typeface="Bradley Hand ITC" panose="03070402050302030203" pitchFamily="66" charset="0"/>
              </a:rPr>
              <a:t>Further fine tune the model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4EBBC8E-DDC4-B2CD-043C-43FDE9F43B72}"/>
              </a:ext>
            </a:extLst>
          </p:cNvPr>
          <p:cNvSpPr txBox="1"/>
          <p:nvPr/>
        </p:nvSpPr>
        <p:spPr>
          <a:xfrm>
            <a:off x="6218618" y="4834675"/>
            <a:ext cx="6144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Bradley Hand ITC" panose="03070402050302030203" pitchFamily="66" charset="0"/>
              </a:rPr>
              <a:t>Used library </a:t>
            </a:r>
            <a:r>
              <a:rPr lang="en-IN" sz="1600" b="1" dirty="0" err="1">
                <a:latin typeface="Bradley Hand ITC" panose="03070402050302030203" pitchFamily="66" charset="0"/>
              </a:rPr>
              <a:t>XGBoost</a:t>
            </a:r>
            <a:r>
              <a:rPr lang="en-IN" sz="1600" b="1" dirty="0">
                <a:latin typeface="Bradley Hand ITC" panose="03070402050302030203" pitchFamily="66" charset="0"/>
              </a:rPr>
              <a:t>, Create dummy encoded Matrices, defined </a:t>
            </a:r>
            <a:r>
              <a:rPr lang="en-IN" sz="1600" b="1" dirty="0" err="1">
                <a:latin typeface="Bradley Hand ITC" panose="03070402050302030203" pitchFamily="66" charset="0"/>
              </a:rPr>
              <a:t>XGBoost</a:t>
            </a:r>
            <a:r>
              <a:rPr lang="en-IN" sz="1600" b="1" dirty="0">
                <a:latin typeface="Bradley Hand ITC" panose="03070402050302030203" pitchFamily="66" charset="0"/>
              </a:rPr>
              <a:t> parameters, trained </a:t>
            </a:r>
            <a:r>
              <a:rPr lang="en-IN" sz="1600" b="1" dirty="0" err="1">
                <a:latin typeface="Bradley Hand ITC" panose="03070402050302030203" pitchFamily="66" charset="0"/>
              </a:rPr>
              <a:t>XGBoost</a:t>
            </a:r>
            <a:r>
              <a:rPr lang="en-IN" sz="1600" b="1" dirty="0">
                <a:latin typeface="Bradley Hand ITC" panose="03070402050302030203" pitchFamily="66" charset="0"/>
              </a:rPr>
              <a:t> model</a:t>
            </a:r>
          </a:p>
        </p:txBody>
      </p:sp>
      <p:pic>
        <p:nvPicPr>
          <p:cNvPr id="1026" name="Picture 2" descr="Youtube Icon Vector Art, Icons, and ...">
            <a:extLst>
              <a:ext uri="{FF2B5EF4-FFF2-40B4-BE49-F238E27FC236}">
                <a16:creationId xmlns:a16="http://schemas.microsoft.com/office/drawing/2014/main" id="{7C9D3107-B745-F2B5-EADC-DBDAAD99B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171" y="2838254"/>
            <a:ext cx="653143" cy="656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eeksforGeeks - Learn To Code – Apps on ...">
            <a:extLst>
              <a:ext uri="{FF2B5EF4-FFF2-40B4-BE49-F238E27FC236}">
                <a16:creationId xmlns:a16="http://schemas.microsoft.com/office/drawing/2014/main" id="{A209D531-B495-A8DC-8F84-5B2E4F94BC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36" b="24922"/>
          <a:stretch/>
        </p:blipFill>
        <p:spPr bwMode="auto">
          <a:xfrm>
            <a:off x="4420605" y="3373764"/>
            <a:ext cx="643662" cy="33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arch Icon Google - History - Free ...">
            <a:extLst>
              <a:ext uri="{FF2B5EF4-FFF2-40B4-BE49-F238E27FC236}">
                <a16:creationId xmlns:a16="http://schemas.microsoft.com/office/drawing/2014/main" id="{1A93DDFF-7C21-8617-43CF-CD0B92740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719" y="2943740"/>
            <a:ext cx="504498" cy="343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2455F4C1-AD35-9D3D-8E23-06C6A56A6081}"/>
              </a:ext>
            </a:extLst>
          </p:cNvPr>
          <p:cNvSpPr txBox="1"/>
          <p:nvPr/>
        </p:nvSpPr>
        <p:spPr>
          <a:xfrm>
            <a:off x="5319415" y="3007309"/>
            <a:ext cx="6256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Bradley Hand ITC" panose="03070402050302030203" pitchFamily="66" charset="0"/>
              </a:rPr>
              <a:t>Build relationship between CTR ~ other attributes, to identify which has better correlation. Included only these attributes in the model.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E34BB06-E621-58F4-EA10-745C082793C6}"/>
              </a:ext>
            </a:extLst>
          </p:cNvPr>
          <p:cNvSpPr txBox="1"/>
          <p:nvPr/>
        </p:nvSpPr>
        <p:spPr>
          <a:xfrm>
            <a:off x="9715597" y="6027440"/>
            <a:ext cx="25895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  <a:latin typeface="Rockwell Nova Extra Bold" panose="020F0502020204030204" pitchFamily="18" charset="0"/>
                <a:cs typeface="EucrosiaUPC" panose="020B0502040204020203" pitchFamily="18" charset="-34"/>
              </a:rPr>
              <a:t>Explore More about R …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FE0A0C9-DD13-BAAA-D6E2-B4CA125A2EDA}"/>
              </a:ext>
            </a:extLst>
          </p:cNvPr>
          <p:cNvSpPr txBox="1"/>
          <p:nvPr/>
        </p:nvSpPr>
        <p:spPr>
          <a:xfrm>
            <a:off x="6218618" y="3483392"/>
            <a:ext cx="65869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 err="1">
                <a:solidFill>
                  <a:srgbClr val="92D050"/>
                </a:solidFill>
                <a:latin typeface="Bradley Hand ITC" panose="03070402050302030203" pitchFamily="66" charset="0"/>
              </a:rPr>
              <a:t>gbm</a:t>
            </a:r>
            <a:r>
              <a:rPr lang="en-IN" sz="1400" b="1" dirty="0">
                <a:solidFill>
                  <a:srgbClr val="92D050"/>
                </a:solidFill>
                <a:latin typeface="Bradley Hand ITC" panose="03070402050302030203" pitchFamily="66" charset="0"/>
              </a:rPr>
              <a:t>(  CTR ~ </a:t>
            </a:r>
            <a:r>
              <a:rPr lang="en-IN" sz="1400" b="1" dirty="0" err="1">
                <a:solidFill>
                  <a:srgbClr val="92D050"/>
                </a:solidFill>
                <a:latin typeface="Bradley Hand ITC" panose="03070402050302030203" pitchFamily="66" charset="0"/>
              </a:rPr>
              <a:t>targeting_score</a:t>
            </a:r>
            <a:r>
              <a:rPr lang="en-IN" sz="1400" b="1" dirty="0">
                <a:solidFill>
                  <a:srgbClr val="92D050"/>
                </a:solidFill>
                <a:latin typeface="Bradley Hand ITC" panose="03070402050302030203" pitchFamily="66" charset="0"/>
              </a:rPr>
              <a:t> + </a:t>
            </a:r>
            <a:r>
              <a:rPr lang="en-IN" sz="1400" b="1" dirty="0" err="1">
                <a:solidFill>
                  <a:srgbClr val="92D050"/>
                </a:solidFill>
                <a:latin typeface="Bradley Hand ITC" panose="03070402050302030203" pitchFamily="66" charset="0"/>
              </a:rPr>
              <a:t>visual_appeal</a:t>
            </a:r>
            <a:r>
              <a:rPr lang="en-IN" sz="1400" b="1" dirty="0">
                <a:solidFill>
                  <a:srgbClr val="92D050"/>
                </a:solidFill>
                <a:latin typeface="Bradley Hand ITC" panose="03070402050302030203" pitchFamily="66" charset="0"/>
              </a:rPr>
              <a:t> + </a:t>
            </a:r>
            <a:r>
              <a:rPr lang="en-IN" sz="1400" b="1" dirty="0" err="1">
                <a:solidFill>
                  <a:srgbClr val="92D050"/>
                </a:solidFill>
                <a:latin typeface="Bradley Hand ITC" panose="03070402050302030203" pitchFamily="66" charset="0"/>
              </a:rPr>
              <a:t>contextual_relevance</a:t>
            </a:r>
            <a:r>
              <a:rPr lang="en-IN" sz="1400" b="1" dirty="0">
                <a:solidFill>
                  <a:srgbClr val="92D050"/>
                </a:solidFill>
                <a:latin typeface="Bradley Hand ITC" panose="03070402050302030203" pitchFamily="66" charset="0"/>
              </a:rPr>
              <a:t> + </a:t>
            </a:r>
            <a:r>
              <a:rPr lang="en-IN" sz="1400" b="1" dirty="0" err="1">
                <a:solidFill>
                  <a:srgbClr val="92D050"/>
                </a:solidFill>
                <a:latin typeface="Bradley Hand ITC" panose="03070402050302030203" pitchFamily="66" charset="0"/>
              </a:rPr>
              <a:t>headline_length</a:t>
            </a:r>
            <a:r>
              <a:rPr lang="en-IN" sz="1400" b="1" dirty="0">
                <a:solidFill>
                  <a:srgbClr val="92D050"/>
                </a:solidFill>
                <a:latin typeface="Bradley Hand ITC" panose="03070402050302030203" pitchFamily="66" charset="0"/>
              </a:rPr>
              <a:t> +         </a:t>
            </a:r>
            <a:r>
              <a:rPr lang="en-IN" sz="1400" b="1" dirty="0" err="1">
                <a:solidFill>
                  <a:srgbClr val="92D050"/>
                </a:solidFill>
                <a:latin typeface="Bradley Hand ITC" panose="03070402050302030203" pitchFamily="66" charset="0"/>
              </a:rPr>
              <a:t>cta_strength</a:t>
            </a:r>
            <a:r>
              <a:rPr lang="en-IN" sz="1400" b="1" dirty="0">
                <a:solidFill>
                  <a:srgbClr val="92D050"/>
                </a:solidFill>
                <a:latin typeface="Bradley Hand ITC" panose="03070402050302030203" pitchFamily="66" charset="0"/>
              </a:rPr>
              <a:t> +</a:t>
            </a:r>
            <a:r>
              <a:rPr lang="en-IN" sz="1400" b="1" dirty="0" err="1">
                <a:solidFill>
                  <a:srgbClr val="92D050"/>
                </a:solidFill>
                <a:latin typeface="Bradley Hand ITC" panose="03070402050302030203" pitchFamily="66" charset="0"/>
              </a:rPr>
              <a:t>contextual_relevance</a:t>
            </a:r>
            <a:r>
              <a:rPr lang="en-IN" sz="1400" b="1" dirty="0">
                <a:solidFill>
                  <a:srgbClr val="92D050"/>
                </a:solidFill>
                <a:latin typeface="Bradley Hand ITC" panose="03070402050302030203" pitchFamily="66" charset="0"/>
              </a:rPr>
              <a:t>+ </a:t>
            </a:r>
            <a:r>
              <a:rPr lang="en-IN" sz="1400" b="1" dirty="0" err="1">
                <a:solidFill>
                  <a:srgbClr val="92D050"/>
                </a:solidFill>
                <a:latin typeface="Bradley Hand ITC" panose="03070402050302030203" pitchFamily="66" charset="0"/>
              </a:rPr>
              <a:t>body_readability_score</a:t>
            </a:r>
            <a:r>
              <a:rPr lang="en-IN" sz="1400" b="1" dirty="0">
                <a:solidFill>
                  <a:srgbClr val="92D050"/>
                </a:solidFill>
                <a:latin typeface="Bradley Hand ITC" panose="03070402050302030203" pitchFamily="66" charset="0"/>
              </a:rPr>
              <a:t> ,  data = </a:t>
            </a:r>
            <a:r>
              <a:rPr lang="en-IN" sz="1400" b="1" dirty="0" err="1">
                <a:solidFill>
                  <a:srgbClr val="92D050"/>
                </a:solidFill>
                <a:latin typeface="Bradley Hand ITC" panose="03070402050302030203" pitchFamily="66" charset="0"/>
              </a:rPr>
              <a:t>analysis_data</a:t>
            </a:r>
            <a:r>
              <a:rPr lang="en-IN" sz="1400" b="1" dirty="0">
                <a:solidFill>
                  <a:srgbClr val="92D050"/>
                </a:solidFill>
                <a:latin typeface="Bradley Hand ITC" panose="03070402050302030203" pitchFamily="66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b="1" dirty="0" err="1">
                <a:solidFill>
                  <a:srgbClr val="92D050"/>
                </a:solidFill>
                <a:latin typeface="Bradley Hand ITC" panose="03070402050302030203" pitchFamily="66" charset="0"/>
              </a:rPr>
              <a:t>optimal_trees</a:t>
            </a:r>
            <a:r>
              <a:rPr lang="en-IN" sz="1400" b="1" dirty="0">
                <a:solidFill>
                  <a:srgbClr val="92D050"/>
                </a:solidFill>
                <a:latin typeface="Bradley Hand ITC" panose="03070402050302030203" pitchFamily="66" charset="0"/>
              </a:rPr>
              <a:t> &lt;- </a:t>
            </a:r>
            <a:r>
              <a:rPr lang="en-IN" sz="1400" b="1" dirty="0" err="1">
                <a:solidFill>
                  <a:srgbClr val="92D050"/>
                </a:solidFill>
                <a:latin typeface="Bradley Hand ITC" panose="03070402050302030203" pitchFamily="66" charset="0"/>
              </a:rPr>
              <a:t>gbm.perf</a:t>
            </a:r>
            <a:r>
              <a:rPr lang="en-IN" sz="1400" b="1" dirty="0">
                <a:solidFill>
                  <a:srgbClr val="92D050"/>
                </a:solidFill>
                <a:latin typeface="Bradley Hand ITC" panose="03070402050302030203" pitchFamily="66" charset="0"/>
              </a:rPr>
              <a:t>(</a:t>
            </a:r>
            <a:r>
              <a:rPr lang="en-IN" sz="1400" b="1" dirty="0" err="1">
                <a:solidFill>
                  <a:srgbClr val="92D050"/>
                </a:solidFill>
                <a:latin typeface="Bradley Hand ITC" panose="03070402050302030203" pitchFamily="66" charset="0"/>
              </a:rPr>
              <a:t>model_gbm</a:t>
            </a:r>
            <a:r>
              <a:rPr lang="en-IN" sz="1400" b="1" dirty="0">
                <a:solidFill>
                  <a:srgbClr val="92D050"/>
                </a:solidFill>
                <a:latin typeface="Bradley Hand ITC" panose="03070402050302030203" pitchFamily="66" charset="0"/>
              </a:rPr>
              <a:t>, method = "cv“)</a:t>
            </a:r>
          </a:p>
        </p:txBody>
      </p:sp>
    </p:spTree>
    <p:extLst>
      <p:ext uri="{BB962C8B-B14F-4D97-AF65-F5344CB8AC3E}">
        <p14:creationId xmlns:p14="http://schemas.microsoft.com/office/powerpoint/2010/main" val="956596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6" grpId="0" animBg="1"/>
      <p:bldP spid="39" grpId="0" animBg="1"/>
      <p:bldP spid="40" grpId="0"/>
      <p:bldP spid="41" grpId="0"/>
      <p:bldP spid="43" grpId="0"/>
      <p:bldP spid="45" grpId="0" animBg="1"/>
      <p:bldP spid="46" grpId="0" animBg="1"/>
      <p:bldP spid="47" grpId="0" animBg="1"/>
      <p:bldP spid="48" grpId="0"/>
      <p:bldP spid="49" grpId="0"/>
      <p:bldP spid="51" grpId="0"/>
      <p:bldP spid="53" grpId="0" animBg="1"/>
      <p:bldP spid="54" grpId="0" animBg="1"/>
      <p:bldP spid="55" grpId="0"/>
      <p:bldP spid="56" grpId="0" animBg="1"/>
      <p:bldP spid="57" grpId="0"/>
      <p:bldP spid="58" grpId="0" animBg="1"/>
      <p:bldP spid="59" grpId="0" animBg="1"/>
      <p:bldP spid="62" grpId="0" animBg="1"/>
      <p:bldP spid="63" grpId="0" animBg="1"/>
      <p:bldP spid="64" grpId="0"/>
      <p:bldP spid="65" grpId="0"/>
      <p:bldP spid="66" grpId="0"/>
      <p:bldP spid="67" grpId="0"/>
      <p:bldP spid="68" grpId="0"/>
      <p:bldP spid="7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522</TotalTime>
  <Words>244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Bradley Hand ITC</vt:lpstr>
      <vt:lpstr>Rockwell Nova Extra Bold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Dinesh Chorage</dc:creator>
  <cp:lastModifiedBy>Dinesh Chorage</cp:lastModifiedBy>
  <cp:revision>2</cp:revision>
  <dcterms:created xsi:type="dcterms:W3CDTF">2024-12-04T20:54:54Z</dcterms:created>
  <dcterms:modified xsi:type="dcterms:W3CDTF">2025-07-02T07:53:49Z</dcterms:modified>
</cp:coreProperties>
</file>